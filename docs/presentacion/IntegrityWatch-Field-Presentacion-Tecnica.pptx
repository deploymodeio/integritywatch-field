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Portada de la presentación técnica de IntegrityWatch Field. Se presenta el producto, versión 1.0.0, alcance, entornos de ejecución y el descargo de ingeniería que se desarrolla al cierre.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Agenda de 9 bloques con el alcance de la presentación: módulos, reglas, normas, idiomas, calidad de software, volumen de datos, kit de campo y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Tres problemas del campo: falta de conectividad, riesgo de integridad por lecturas o unidades erróneas, y necesidad de funcionamiento sin red con service worker iw-vN, PWA y EXE portable.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Riesgos (fuga, sobrepresión, CUI, RBI vencido) frente a costos del incidente. Llamado de acción: la app opera en el dispositivo sin red ni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Diagrama de cajas: 11 módulos repartidos a izquierda y derecha del núcleo (JS vanilla, IndexedDB, service worker iw-vN). Las flechas de shapes indican que cada módulo depende del núcleo.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Arquitectura cliente única: capas de la app, tres modos de ejecución (file://, http(s) localhost:8419, EXE portable Electron), CSP estricta y requisitos de accesibilidad.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Flujo de ingesta dibujado con cajas y flechas de shapes: CSV/WITSML, validación, motores de cálculo, reglas R1–R14 e informes A4. Todo funciona sin servidor.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Motor de corrosión: seis fórmulas con sus normas y tres ejemplos numéricos anclados en docs/TESTS.md (10,366 mpy, EI 75 %, DWM 183,0 mpy).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Dimensionamiento de válvulas de alivio: gas crítico y subcrítico con C y F2, líquido con Kv analítico (API 520 §5.8.2) y selección de orificio API 526 D–T con ejemplo de margen 20,5 %.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RBI: riesgo = POF × COF con bandas ≤4 / 5–9 / 10–15 / ≥16 e intervalos base × 1 / 0,75 / 0,5 / 0,25. Fiabilidad ISO 14224 con ejemplo anclado: 95,0 % disponibilidad, MTBF 700 h, MTTR 20 h, OEE 83,79 %.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Tabla de las 14 reglas R1–R14 con nombre, condición exacta y severidad. Las severidades críticas aparecen en rojo, advertencias en ámbar; la huella de fingerprint evita duplicados.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Normas por región: EE. UU./internacional (API 520/526/580/581, ASME B31, ASTM, NACE/AMPP, NFPA, ISO, ISA-101), Reino Unido (BS, EEMUA 191) y Brasil (NR-23/26, NBR). Todas requieren verificación de edición vigente.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Diseño visual: ISA-101, EEMUA 191, NR-26; tokens de paleta Midnight Executive; 7 idiomas con árabe RTL; claro/oscuro; emblema Escudo de Integridad. Capturas reales incrustadas.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Cuatro capturas del producto a escala proporcional dentro de marcos: tendencia de corrosión, panel de gauges, equipos APM/RBI y mapa de ductos en modo claro.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Calidad: suite 281/281 verde, cobertura ≥ 80 % en motores y reglas, e2e 12 + 10 pasos PASS, axe 0, volumen 10 000 filas sin bloqueo, PWA y file:// verificados.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Kit de datos de campo: 41 filas CSV con resultado de validación y rangos; semilla determinista con 6 ductos y 8 puntos de monitoreo que ejercitan reglas R1, R2, R5 y R6.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Opciones de despliegue: carpeta suelta de escritorio, ZIP con SHA256, EXE portable de Electron y PWA instalable; mecanismo de actualización por versión de caché del service worker.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Roadmap en cinco fases: demostración Q4 2026, E2E automatizado y accesibilidad, EXE portable y backup, rollout con UAT de 6 guiones, y regresión continua de los 281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Cierre con el descargo de ingeniería completo: la app es de apoyo, no sustituye al ingeniero; verificar ediciones vigentes de normas; datos del fabricante prevalecen; constantes Kb/Kw aproximadas; sin valor vinculante.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Hexagon 3"/>
          <p:cNvSpPr/>
          <p:nvPr/>
        </p:nvSpPr>
        <p:spPr>
          <a:xfrm>
            <a:off x="640080" y="685800"/>
            <a:ext cx="1691640" cy="1938528"/>
          </a:xfrm>
          <a:prstGeom prst="hexagon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481328"/>
            <a:ext cx="16916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4000" b="1">
                <a:solidFill>
                  <a:srgbClr val="E8EDF2"/>
                </a:solidFill>
                <a:latin typeface="Cambria"/>
              </a:rPr>
              <a:t>IW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697480" y="868680"/>
            <a:ext cx="90068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4100" b="1">
                <a:solidFill>
                  <a:srgbClr val="E8EDF2"/>
                </a:solidFill>
                <a:latin typeface="Cambria"/>
              </a:rPr>
              <a:t>IntegrityWatch Field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97480" y="1810512"/>
            <a:ext cx="90068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0">
                <a:solidFill>
                  <a:srgbClr val="B9C4D0"/>
                </a:solidFill>
                <a:latin typeface="Calibri"/>
              </a:rPr>
              <a:t>App de integridad de activos en campo: ductos, corrosión, válvulas de alivio, APM y RBI. Operación offline-first, 100 % cliente, sin servidor.</a:t>
            </a:r>
          </a:p>
        </p:txBody>
      </p:sp>
      <p:sp>
        <p:nvSpPr>
          <p:cNvPr id="8" name="Rectangle 7"/>
          <p:cNvSpPr/>
          <p:nvPr/>
        </p:nvSpPr>
        <p:spPr>
          <a:xfrm>
            <a:off x="640080" y="3017520"/>
            <a:ext cx="10908792" cy="1874519"/>
          </a:xfrm>
          <a:prstGeom prst="rect">
            <a:avLst/>
          </a:prstGeom>
          <a:solidFill>
            <a:srgbClr val="1A2430"/>
          </a:solidFill>
          <a:ln w="12700">
            <a:solidFill>
              <a:srgbClr val="33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321868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libri"/>
              </a:rPr>
              <a:t>Versión: </a:t>
            </a:r>
            <a:r>
              <a:rPr sz="1200" b="0">
                <a:solidFill>
                  <a:srgbClr val="E8EDF2"/>
                </a:solidFill>
                <a:latin typeface="Calibri"/>
              </a:rPr>
              <a:t>1.0.0 — estable para demostración y validación funcional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3218688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libri"/>
              </a:rPr>
              <a:t>Alcance: </a:t>
            </a:r>
            <a:r>
              <a:rPr sz="1200" b="0">
                <a:solidFill>
                  <a:srgbClr val="E8EDF2"/>
                </a:solidFill>
                <a:latin typeface="Calibri"/>
              </a:rPr>
              <a:t>Ductos de crudo/gas/productos, corrosión (cupones, ER/LPR/H₂), PSV, APM/RBI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3785615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libri"/>
              </a:rPr>
              <a:t>Entorno: </a:t>
            </a:r>
            <a:r>
              <a:rPr sz="1200" b="0">
                <a:solidFill>
                  <a:srgbClr val="E8EDF2"/>
                </a:solidFill>
                <a:latin typeface="Calibri"/>
              </a:rPr>
              <a:t>Navegador · PWA instalable · EXE portable (Electron) · modo file://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09360" y="3785615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libri"/>
              </a:rPr>
              <a:t>Normas: </a:t>
            </a:r>
            <a:r>
              <a:rPr sz="1200" b="0">
                <a:solidFill>
                  <a:srgbClr val="E8EDF2"/>
                </a:solidFill>
                <a:latin typeface="Calibri"/>
              </a:rPr>
              <a:t>33 normas en catálogo: ASTM, API, ASME, NACE/AMPP, ISO, NFPA, BS, EEMUA, NR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4352544"/>
            <a:ext cx="512064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libri"/>
              </a:rPr>
              <a:t>Idiomas: </a:t>
            </a:r>
            <a:r>
              <a:rPr sz="1200" b="0">
                <a:solidFill>
                  <a:srgbClr val="E8EDF2"/>
                </a:solidFill>
                <a:latin typeface="Calibri"/>
              </a:rPr>
              <a:t>7 locales: es, en, pt, fr, ru, zh, ar (RTL)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10908792" cy="10515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150" b="0">
                <a:solidFill>
                  <a:srgbClr val="8FA3B8"/>
                </a:solidFill>
                <a:latin typeface="Calibri"/>
              </a:rPr>
              <a:t>IntegrityWatch Field es una herramienta de apoyo a la decisión de ingeniería. Los resultados de cálculo son orientativos: deben verificarse contra las ediciones vigentes de las normas y revisarse por personal de ingeniería cualificado antes de usarse en diseño o en una decisión de operación.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INTEGRITYWATCH FIELD · PRESENTACIÓN TÉCNICA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Agenda — qué encontrarás en esta presentación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2/19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" y="1764792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44168" y="148132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11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344168" y="1920240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Módulos de la aplicación (panel, corrosión, PSV, tuberías, APM, ingesta, reglas, informes, glosario, administración, i18n)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389888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764792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166360" y="148132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66360" y="1920240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Reglas de integridad automáticas (R1–R14) con deduplicación por huella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389888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348472" y="1764792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988552" y="1481328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33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988552" y="1920240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Normas en el catálogo de la app (ASTM, API, ASME, NACE/AMPP, ISO, NFPA, BS, EEMUA, NR)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2798064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704088" y="3172968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44168" y="288950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7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344168" y="3328416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Idiomas, incluido árabe con dirección RTL; interfaz claro/oscuro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25112" y="2798064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4526280" y="3172968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166360" y="288950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281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166360" y="3328416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Tests automatizados, suite 281/281 verde, cobertura ≥ 80 % en motores y reglas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147304" y="2798064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8348472" y="3172968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88552" y="2889504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10 000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988552" y="3328416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Filas en pruebas de volumen; importación de UI en 568 ms, dashboard en 104 ms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4206240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704088" y="4581144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7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1344168" y="4297679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41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344168" y="4736592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Filas del kit de datos de campo (CSV validado: 35 ok / 4 errores / 2 duplicadas / 3 puntos nuevos)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4325112" y="4206240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4526280" y="4581144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8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166360" y="4297679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166360" y="4736592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Sistemas de ducto en precarga de la semilla demostrativa</a:t>
            </a:r>
          </a:p>
        </p:txBody>
      </p:sp>
      <p:sp>
        <p:nvSpPr>
          <p:cNvPr id="37" name="Rectangle 36"/>
          <p:cNvSpPr/>
          <p:nvPr/>
        </p:nvSpPr>
        <p:spPr>
          <a:xfrm>
            <a:off x="8147304" y="4206240"/>
            <a:ext cx="3611880" cy="120700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8348472" y="4581144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500" b="1">
                <a:solidFill>
                  <a:srgbClr val="E8EDF2"/>
                </a:solidFill>
                <a:latin typeface="Cambria"/>
              </a:rPr>
              <a:t>9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988552" y="4297679"/>
            <a:ext cx="25603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300" b="1">
                <a:solidFill>
                  <a:srgbClr val="0B5CAD"/>
                </a:solidFill>
                <a:latin typeface="Cambria"/>
              </a:rPr>
              <a:t>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988552" y="4736592"/>
            <a:ext cx="256032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2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Hallazgos críticos de accesibilidad (axe: 0 críticos/graves/moderados/menores)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Integridad en campo: sitios remotos y operación sin red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3/19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3611880" cy="4224528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31520" y="1691640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62763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Cambria"/>
              </a:rPr>
              <a:t>Sitios remotos, sin red estable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52728" y="2212848"/>
            <a:ext cx="2606040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La mayoría de las campañas se ejecutan fuera de cobertura celular o wi-fi.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Una app que depende de un servidor se vuelve inútil justo en el campo.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25112" y="1389888"/>
            <a:ext cx="3611880" cy="4224528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4325112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4553712" y="1691640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74920" y="162763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Cambria"/>
              </a:rPr>
              <a:t>Integridad bajo presión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74920" y="2212848"/>
            <a:ext cx="2606040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Corrosión bajo aislamiento (CUI), válvulas de alivio vencidas, inspecciones RBI olvidadas.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Una lectura omitida o una unidad mal convertida es un riesgo de integridad real.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47304" y="1389888"/>
            <a:ext cx="3611880" cy="4224528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8147304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375904" y="1691640"/>
            <a:ext cx="384048" cy="384048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97112" y="1627632"/>
            <a:ext cx="2606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Cambria"/>
              </a:rPr>
              <a:t>Operación offline-first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897112" y="2212848"/>
            <a:ext cx="2606040" cy="33101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Service worker iw-vN que precacha la app; funciona sin conexión tras la primera carga.</a:t>
            </a:r>
          </a:p>
          <a:p>
            <a:pPr algn="l">
              <a:lnSpc>
                <a:spcPct val="112000"/>
              </a:lnSpc>
              <a:spcAft>
                <a:spcPts val="700"/>
              </a:spcAft>
            </a:pPr>
            <a:r>
              <a:rPr sz="1200" b="0">
                <a:solidFill>
                  <a:srgbClr val="1A2430"/>
                </a:solidFill>
                <a:latin typeface="Calibri"/>
              </a:rPr>
              <a:t>• PWA instalable y EXE portable vía Electron; sincronización opcional al recuperar la red.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 · EL PROBLEMA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Normativa dispersa, riesgos de integridad y costos del incidente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4/19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34924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600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Cambria"/>
              </a:rPr>
              <a:t>Riesgos de integridad sin control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430"/>
                </a:solidFill>
                <a:latin typeface="Calibri"/>
              </a:rPr>
              <a:t>• Falla de contención y fuga de producto o H₂S.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15768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430"/>
                </a:solidFill>
                <a:latin typeface="Calibri"/>
              </a:rPr>
              <a:t>• Sobrepresión sin válvula de alivio dimensionada correctamente.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282696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430"/>
                </a:solidFill>
                <a:latin typeface="Calibri"/>
              </a:rPr>
              <a:t>• Corrosión bajo aislamiento (CUI) no detectada a tiempo.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849624"/>
            <a:ext cx="48463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1A2430"/>
                </a:solidFill>
                <a:latin typeface="Calibri"/>
              </a:rPr>
              <a:t>• Inspecciones RBI vencidas y activos críticos sin seguimiento.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172200" y="1389888"/>
            <a:ext cx="534924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46520" y="1600200"/>
            <a:ext cx="48463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1A2430"/>
                </a:solidFill>
                <a:latin typeface="Cambria"/>
              </a:rPr>
              <a:t>Costos del incidente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46520" y="2148840"/>
            <a:ext cx="2331720" cy="84124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592824" y="2221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5CAD"/>
                </a:solidFill>
                <a:latin typeface="Cambria"/>
              </a:rPr>
              <a:t>Parada no planificada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592824" y="253288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pérdida de producción por hora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869680" y="2148840"/>
            <a:ext cx="2331720" cy="84124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15984" y="222199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5CAD"/>
                </a:solidFill>
                <a:latin typeface="Cambria"/>
              </a:rPr>
              <a:t>Multa regulatoria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15984" y="253288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incumplimiento de normas aplicables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46520" y="3108960"/>
            <a:ext cx="2331720" cy="84124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592824" y="318211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5CAD"/>
                </a:solidFill>
                <a:latin typeface="Cambria"/>
              </a:rPr>
              <a:t>Pérdida de producto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92824" y="349300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fuga o contención fuera de especificaciones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869680" y="3108960"/>
            <a:ext cx="2331720" cy="84124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015984" y="3182112"/>
            <a:ext cx="20574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0B5CAD"/>
                </a:solidFill>
                <a:latin typeface="Cambria"/>
              </a:rPr>
              <a:t>Reputación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493008"/>
            <a:ext cx="2057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5A6B7C"/>
                </a:solidFill>
                <a:latin typeface="Calibri"/>
              </a:rPr>
              <a:t>impacto en el permiso social para operar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559552"/>
            <a:ext cx="10908792" cy="841248"/>
          </a:xfrm>
          <a:prstGeom prst="rect">
            <a:avLst/>
          </a:prstGeom>
          <a:solidFill>
            <a:srgbClr val="FDF3E7"/>
          </a:solidFill>
          <a:ln w="12700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77240" y="5687568"/>
            <a:ext cx="10378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200" b="1">
                <a:solidFill>
                  <a:srgbClr val="B45309"/>
                </a:solidFill>
                <a:latin typeface="Calibri"/>
              </a:rPr>
              <a:t>IntegrityWatch Field cierra la brecha: </a:t>
            </a:r>
            <a:r>
              <a:rPr sz="1200" b="0">
                <a:solidFill>
                  <a:srgbClr val="1A2430"/>
                </a:solidFill>
                <a:latin typeface="Calibri"/>
              </a:rPr>
              <a:t>datos de campo, reglas de integridad e informes de ingeniería en el dispositivo, funcionan sin red y sin servidor.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2 · QUÉ HACE LA APP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11 módulos — diagrama de cajas sobre el núcleo de la aplicación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5/19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640080" y="1389888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86384" y="1508760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43584" y="144475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Panel (Dashboard)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43584" y="173736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KPIs, mapa de calor, feed de alertas</a:t>
            </a:r>
          </a:p>
        </p:txBody>
      </p:sp>
      <p:sp>
        <p:nvSpPr>
          <p:cNvPr id="9" name="Right Arrow 8"/>
          <p:cNvSpPr/>
          <p:nvPr/>
        </p:nvSpPr>
        <p:spPr>
          <a:xfrm>
            <a:off x="4818888" y="1517904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40080" y="2112264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786384" y="2231136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43584" y="216712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Corrosión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243584" y="2459736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Cupones, ER/LPR/H₂, modelo DWM, inhibidor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18888" y="2240280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2834640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786384" y="2953512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243584" y="288950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Válvulas de alivio (PSV)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43584" y="318211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API 520 gas/líquido, API 526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4818888" y="2962656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640080" y="3557016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786384" y="3675888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243584" y="361188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Tuberías y activos de línea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43584" y="3904488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Sistemas, inspecciones, mapa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4818888" y="3685032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0080" y="4279392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86384" y="4398264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243584" y="4334255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APM y fiabilidad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243584" y="4626864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POF × COF, MTBF/MTTR, OEE</a:t>
            </a:r>
          </a:p>
        </p:txBody>
      </p:sp>
      <p:sp>
        <p:nvSpPr>
          <p:cNvPr id="29" name="Right Arrow 28"/>
          <p:cNvSpPr/>
          <p:nvPr/>
        </p:nvSpPr>
        <p:spPr>
          <a:xfrm>
            <a:off x="4818888" y="4407407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640080" y="5001768"/>
            <a:ext cx="4160520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786384" y="5120640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6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243584" y="5056632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Ingesta de datos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243584" y="5349240"/>
            <a:ext cx="3429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CSV / WITSML, validación, mapeo</a:t>
            </a:r>
          </a:p>
        </p:txBody>
      </p:sp>
      <p:sp>
        <p:nvSpPr>
          <p:cNvPr id="34" name="Right Arrow 33"/>
          <p:cNvSpPr/>
          <p:nvPr/>
        </p:nvSpPr>
        <p:spPr>
          <a:xfrm>
            <a:off x="4818888" y="5129784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7635240" y="1389888"/>
            <a:ext cx="3867912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7781544" y="1508760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7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238744" y="1444752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Reglas y recomendaciones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238744" y="1737360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R1–R14, ciclo abierto / reconocido / resuelto</a:t>
            </a:r>
          </a:p>
        </p:txBody>
      </p:sp>
      <p:sp>
        <p:nvSpPr>
          <p:cNvPr id="39" name="Right Arrow 38"/>
          <p:cNvSpPr/>
          <p:nvPr/>
        </p:nvSpPr>
        <p:spPr>
          <a:xfrm>
            <a:off x="7342631" y="1517904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7635240" y="2112264"/>
            <a:ext cx="3867912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7781544" y="2231136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8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238744" y="216712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Informes de ingeniería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238744" y="2459736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Trimestral, expediente, hoja de datos (A4)</a:t>
            </a:r>
          </a:p>
        </p:txBody>
      </p:sp>
      <p:sp>
        <p:nvSpPr>
          <p:cNvPr id="44" name="Right Arrow 43"/>
          <p:cNvSpPr/>
          <p:nvPr/>
        </p:nvSpPr>
        <p:spPr>
          <a:xfrm>
            <a:off x="7342631" y="2240280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Rectangle 44"/>
          <p:cNvSpPr/>
          <p:nvPr/>
        </p:nvSpPr>
        <p:spPr>
          <a:xfrm>
            <a:off x="7635240" y="2834640"/>
            <a:ext cx="3867912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7781544" y="2953512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9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238744" y="2889504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Glosario de términos y normas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238744" y="3182112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33 normas, 7 idiomas</a:t>
            </a:r>
          </a:p>
        </p:txBody>
      </p:sp>
      <p:sp>
        <p:nvSpPr>
          <p:cNvPr id="49" name="Right Arrow 48"/>
          <p:cNvSpPr/>
          <p:nvPr/>
        </p:nvSpPr>
        <p:spPr>
          <a:xfrm>
            <a:off x="7342631" y="2962656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7635240" y="3557016"/>
            <a:ext cx="3867912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7781544" y="3675888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10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238744" y="3611880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Administración y seguridad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238744" y="3904488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Bloqueo PIN, roles, exportación JSON</a:t>
            </a:r>
          </a:p>
        </p:txBody>
      </p:sp>
      <p:sp>
        <p:nvSpPr>
          <p:cNvPr id="54" name="Right Arrow 53"/>
          <p:cNvSpPr/>
          <p:nvPr/>
        </p:nvSpPr>
        <p:spPr>
          <a:xfrm>
            <a:off x="7342631" y="3685032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35240" y="4279392"/>
            <a:ext cx="3867912" cy="56692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7781544" y="4398264"/>
            <a:ext cx="329184" cy="329184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200" b="1">
                <a:solidFill>
                  <a:srgbClr val="E8EDF2"/>
                </a:solidFill>
                <a:latin typeface="Cambria"/>
              </a:rPr>
              <a:t>11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8238744" y="4334255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Internacionalización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8238744" y="4626864"/>
            <a:ext cx="31363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7 idiomas, árabe RTL, claro/oscuro</a:t>
            </a:r>
          </a:p>
        </p:txBody>
      </p:sp>
      <p:sp>
        <p:nvSpPr>
          <p:cNvPr id="59" name="Right Arrow 58"/>
          <p:cNvSpPr/>
          <p:nvPr/>
        </p:nvSpPr>
        <p:spPr>
          <a:xfrm>
            <a:off x="7342631" y="4407407"/>
            <a:ext cx="237744" cy="310896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983480" y="1389888"/>
            <a:ext cx="2240280" cy="3931920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TextBox 60"/>
          <p:cNvSpPr txBox="1"/>
          <p:nvPr/>
        </p:nvSpPr>
        <p:spPr>
          <a:xfrm>
            <a:off x="5166360" y="1554480"/>
            <a:ext cx="18745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500" b="1">
                <a:solidFill>
                  <a:srgbClr val="E8EDF2"/>
                </a:solidFill>
                <a:latin typeface="Cambria"/>
              </a:rPr>
              <a:t>NÚCLEO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5166360" y="2048256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EDF2"/>
                </a:solidFill>
                <a:latin typeface="Calibri"/>
              </a:rPr>
              <a:t>JS vanilla</a:t>
            </a:r>
          </a:p>
        </p:txBody>
      </p:sp>
      <p:sp>
        <p:nvSpPr>
          <p:cNvPr id="63" name="TextBox 62"/>
          <p:cNvSpPr txBox="1"/>
          <p:nvPr/>
        </p:nvSpPr>
        <p:spPr>
          <a:xfrm>
            <a:off x="5166360" y="2340864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EDF2"/>
                </a:solidFill>
                <a:latin typeface="Calibri"/>
              </a:rPr>
              <a:t>IndexedDB</a:t>
            </a:r>
          </a:p>
        </p:txBody>
      </p:sp>
      <p:sp>
        <p:nvSpPr>
          <p:cNvPr id="64" name="TextBox 63"/>
          <p:cNvSpPr txBox="1"/>
          <p:nvPr/>
        </p:nvSpPr>
        <p:spPr>
          <a:xfrm>
            <a:off x="5166360" y="2633472"/>
            <a:ext cx="1874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E8EDF2"/>
                </a:solidFill>
                <a:latin typeface="Calibri"/>
              </a:rPr>
              <a:t>SW iw-vN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5166360" y="3081528"/>
            <a:ext cx="18745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E8EDF2"/>
                </a:solidFill>
                <a:latin typeface="Calibri"/>
              </a:rPr>
              <a:t>Todos los módulos leen y escriben sobre el mismo núcleo: cálculo de ingeniería, reglas R1–R14, almacén IndexedDB y sincronización opcional de la cola de mutación.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3 · ARQUITECTURA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JS vanilla, dual-mode, IndexedDB, service worker iw-vN, PWA, Electron, CSP, accesibilidad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6/19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53212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A2430"/>
                </a:solidFill>
                <a:latin typeface="Cambria"/>
              </a:rPr>
              <a:t>Capas de la aplicación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UI shell y vistas: router hash, sidebar vertical única columna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596896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Motores: corrosión (ASTM G4 / DWM / MR0175 / SP0169), PSV (API 520/526), APM, unidades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163824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Motor de reglas R1–R14 + reconciliación de recomendaciones (huella fingerprint)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730752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Ingesta CSV / WITSML y exportación/importación 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297680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Almacenamiento IndexedDB con adaptador dbMemory (mismo contrato en Node y navegador)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4864608"/>
            <a:ext cx="5029200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00" b="0">
                <a:solidFill>
                  <a:srgbClr val="1A2430"/>
                </a:solidFill>
                <a:latin typeface="Calibri"/>
              </a:rPr>
              <a:t>• Sincronización opcional: cola de mutación con reintentos y backoff (1 s / 5 s / 30 s)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400800" y="1389888"/>
            <a:ext cx="512064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A2430"/>
                </a:solidFill>
                <a:latin typeface="Cambria"/>
              </a:rPr>
              <a:t>Despliegue y modos de ejecución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75120" y="2029968"/>
            <a:ext cx="4572000" cy="91440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21424" y="2121408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B5CAD"/>
                </a:solidFill>
                <a:latin typeface="Cambria"/>
              </a:rPr>
              <a:t>file://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92440" y="2121408"/>
            <a:ext cx="3063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Doble clic en index.html; lógica completa en el navegador, sin service worker ni PWA.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675120" y="3145536"/>
            <a:ext cx="4572000" cy="91440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21424" y="3236976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B5CAD"/>
                </a:solidFill>
                <a:latin typeface="Cambria"/>
              </a:rPr>
              <a:t>http(s)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92440" y="3236976"/>
            <a:ext cx="3063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Servidor local en localhost:8419 (START-HERE.bat / serve.ps1 / serve.py); PWA instalable y SW iw-vN activo.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75120" y="4261104"/>
            <a:ext cx="4572000" cy="91440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21424" y="4352544"/>
            <a:ext cx="12344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0B5CAD"/>
                </a:solidFill>
                <a:latin typeface="Cambria"/>
              </a:rPr>
              <a:t>Electron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092440" y="4352544"/>
            <a:ext cx="3063240" cy="7498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EXE portable con electron-builder; servidor HTTP interno en 127.0.0.1, puerto efímero; sin red tras la instalación.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559552"/>
            <a:ext cx="10908792" cy="841248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77240" y="5669280"/>
            <a:ext cx="33832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CSP estricta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script-src 'self', sin inline, sin eval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6240" y="5669280"/>
            <a:ext cx="3657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Accesibilidad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Foco visible, ARIA, objetivos ≥ 44 px, árabe RTL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138160" y="5669280"/>
            <a:ext cx="32918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2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Dual-mode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Mismo código en navegador, PWA y Electron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4 · DATOS Y FLUJO DE INGESTA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CSV → validación → motores → reglas → informes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7/19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481328"/>
            <a:ext cx="2084831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481328"/>
            <a:ext cx="2084831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30936" y="1664208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1 · CSV / WITSML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" y="2048256"/>
            <a:ext cx="1828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Archivo de campo (kit de 41 filas); delimitadores coma, punto y coma y tab; comillas dobles.</a:t>
            </a:r>
          </a:p>
        </p:txBody>
      </p:sp>
      <p:sp>
        <p:nvSpPr>
          <p:cNvPr id="9" name="Right Arrow 8"/>
          <p:cNvSpPr/>
          <p:nvPr/>
        </p:nvSpPr>
        <p:spPr>
          <a:xfrm>
            <a:off x="2606040" y="2235708"/>
            <a:ext cx="182880" cy="27432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2788920" y="1481328"/>
            <a:ext cx="2084831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2788920" y="1481328"/>
            <a:ext cx="2084831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916936" y="1664208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2 · Validación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16936" y="2048256"/>
            <a:ext cx="1828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Delimitador, alias de 12 columnas, rangos, fechas futuras, duplicados y wf ≤ wi.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4892040" y="2235708"/>
            <a:ext cx="182880" cy="27432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5074920" y="1481328"/>
            <a:ext cx="2084831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74920" y="1481328"/>
            <a:ext cx="2084831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5202936" y="1664208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3 · Motores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202936" y="2048256"/>
            <a:ext cx="1828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Corrosión (G4, DWM, MR0175, SP0169), PSV (API 520/526), APM (ISO 14224).</a:t>
            </a:r>
          </a:p>
        </p:txBody>
      </p:sp>
      <p:sp>
        <p:nvSpPr>
          <p:cNvPr id="19" name="Right Arrow 18"/>
          <p:cNvSpPr/>
          <p:nvPr/>
        </p:nvSpPr>
        <p:spPr>
          <a:xfrm>
            <a:off x="7178040" y="2235708"/>
            <a:ext cx="182880" cy="27432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7360920" y="1481328"/>
            <a:ext cx="2084831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481328"/>
            <a:ext cx="2084831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488936" y="1664208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4 · Reglas R1–R14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88936" y="2048256"/>
            <a:ext cx="1828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Evaluación pura sobre el estado; huella fingerprint; reconciliar abierto / reconocido / resuelto.</a:t>
            </a:r>
          </a:p>
        </p:txBody>
      </p:sp>
      <p:sp>
        <p:nvSpPr>
          <p:cNvPr id="24" name="Right Arrow 23"/>
          <p:cNvSpPr/>
          <p:nvPr/>
        </p:nvSpPr>
        <p:spPr>
          <a:xfrm>
            <a:off x="9464040" y="2235708"/>
            <a:ext cx="182880" cy="274320"/>
          </a:xfrm>
          <a:prstGeom prst="rightArrow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9646920" y="1481328"/>
            <a:ext cx="2084831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9646920" y="1481328"/>
            <a:ext cx="2084831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774936" y="1664208"/>
            <a:ext cx="182879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1">
                <a:solidFill>
                  <a:srgbClr val="1A2430"/>
                </a:solidFill>
                <a:latin typeface="Cambria"/>
              </a:rPr>
              <a:t>5 · Informes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774936" y="2048256"/>
            <a:ext cx="1828799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Trimestral, expediente y hoja de datos en A4 con window.print().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675887"/>
            <a:ext cx="10908792" cy="114300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3803904"/>
            <a:ext cx="1037844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150" b="1">
                <a:solidFill>
                  <a:srgbClr val="0B5CAD"/>
                </a:solidFill>
                <a:latin typeface="Calibri"/>
              </a:rPr>
              <a:t>Offline-first: </a:t>
            </a:r>
            <a:r>
              <a:rPr sz="1150" b="0">
                <a:solidFill>
                  <a:srgbClr val="1A2430"/>
                </a:solidFill>
                <a:latin typeface="Calibri"/>
              </a:rPr>
              <a:t>todo queda en IndexedDB del dispositivo. La cola de mutación se envía al recuperar la conexión (endpoint opcional). Sin servidor, sin base de datos remota.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5 · MOTORES DE CÁLCULO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Motor de corrosión — ASTM G4, SP0775, DWM, MR0175, SP0169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8/19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669280" cy="48920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50" b="1">
                <a:solidFill>
                  <a:srgbClr val="1A2430"/>
                </a:solidFill>
                <a:latin typeface="Cambria"/>
              </a:rPr>
              <a:t>Fórmulas implementadas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ASTM G4:  </a:t>
            </a:r>
            <a:r>
              <a:rPr sz="1050" b="0">
                <a:solidFill>
                  <a:srgbClr val="1A2430"/>
                </a:solidFill>
                <a:latin typeface="Calibri"/>
              </a:rPr>
              <a:t>CR = 534 · ΔW / (ρ · A · t)  →  mpy (mm/año = mpy × 0,0254)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NACE SP0775:  </a:t>
            </a:r>
            <a:r>
              <a:rPr sz="1050" b="0">
                <a:solidFill>
                  <a:srgbClr val="1A2430"/>
                </a:solidFill>
                <a:latin typeface="Calibri"/>
              </a:rPr>
              <a:t>Bandas: &lt;1 / 1–&lt;5 / 5–&lt;10 / ≥10 mpy (bajo → severo)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56432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Inhibidor:  </a:t>
            </a:r>
            <a:r>
              <a:rPr sz="1050" b="0">
                <a:solidFill>
                  <a:srgbClr val="1A2430"/>
                </a:solidFill>
                <a:latin typeface="Calibri"/>
              </a:rPr>
              <a:t>EI = (CRb − CRi) / CRb · 100  →  pobre / aceptable / buena / excelente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9664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De Waard &amp; Milliams:  </a:t>
            </a:r>
            <a:r>
              <a:rPr sz="1050" b="0">
                <a:solidFill>
                  <a:srgbClr val="1A2430"/>
                </a:solidFill>
                <a:latin typeface="Calibri"/>
              </a:rPr>
              <a:t>log₁₀(mm/año) = 5,8 − 1710/T + 0,67 · log₁₀(pCO₂)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4882896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MR0175 screening:  </a:t>
            </a:r>
            <a:r>
              <a:rPr sz="1050" b="0">
                <a:solidFill>
                  <a:srgbClr val="1A2430"/>
                </a:solidFill>
                <a:latin typeface="Calibri"/>
              </a:rPr>
              <a:t>pH₂S = P · x  →  &lt;0,3 / 0,3–100 / &gt;100 kPa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5596128"/>
            <a:ext cx="521208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3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mbria"/>
              </a:rPr>
              <a:t>NACE SP0169 CP:  </a:t>
            </a:r>
            <a:r>
              <a:rPr sz="1050" b="0">
                <a:solidFill>
                  <a:srgbClr val="1A2430"/>
                </a:solidFill>
                <a:latin typeface="Calibri"/>
              </a:rPr>
              <a:t>−850 mV vs CSE o ≥100 mV de polarización catódica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537960" y="1389888"/>
            <a:ext cx="4983480" cy="48920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12280" y="1572768"/>
            <a:ext cx="44805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Ejemplo anclado (docs/TESTS.md)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812280" y="2029968"/>
            <a:ext cx="4434840" cy="9601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67728" y="2157984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0B5CAD"/>
                </a:solidFill>
                <a:latin typeface="Cambria"/>
              </a:rPr>
              <a:t>10,366 mpy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967728" y="2578608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ΔW 220 mg · ρ 7,87 g/cm³ · A 2 in² · t 720 h → 0,263 mm/año → SP0775: severo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12280" y="3154680"/>
            <a:ext cx="4434840" cy="9601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67728" y="3282696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B45309"/>
                </a:solidFill>
                <a:latin typeface="Cambria"/>
              </a:rPr>
              <a:t>75 % de EI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967728" y="3703320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Inhibidor: blank 8,0 → inhibido 2,0 mpy → aceptable (70–85 %)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812280" y="4279392"/>
            <a:ext cx="4434840" cy="9601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67728" y="4407408"/>
            <a:ext cx="41605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000" b="1">
                <a:solidFill>
                  <a:srgbClr val="0B5CAD"/>
                </a:solidFill>
                <a:latin typeface="Cambria"/>
              </a:rPr>
              <a:t>183,0 mpy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967728" y="4828032"/>
            <a:ext cx="4160520" cy="38404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DWM: 60 °C, pCO₂ 1 bar → 4,647 mm/año (modelo de screening)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6 · MOTORES DE CÁLCULO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Motor de válvulas de alivio — API 520 (gas/líquido) y API 526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9/19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4709160" cy="489204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1572768"/>
            <a:ext cx="4297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API 520 Parte I — gas/vapor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29968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Crítico:  A = W · √(T·Z/M) / (C · Kd · P1 · Kb · Kc)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88336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C = 520 · √( k · (2/(k+1))^((k+1)/(k−1)) 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346704"/>
            <a:ext cx="42976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Subcrítico (P2/P1 &gt; ratio crítico): factor F2 con r = P2/P1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94960" y="1389888"/>
            <a:ext cx="6172200" cy="23317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5669280" y="1572768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API 520 — líquido y factor Kv analítico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2029968"/>
            <a:ext cx="5669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A = Q · √(G/ΔP) / (38 · Kd · Kw · Kc · Kv)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2670048"/>
            <a:ext cx="5669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Kv = min(1, 1 / (0,9935 + 2,878/√Re + 342,75/Re^1,5))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3310128"/>
            <a:ext cx="566928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Re calculado en el orificio seleccionado; validez Re ≥ 100 (aviso E_RE_RANGE)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394960" y="3913632"/>
            <a:ext cx="6172200" cy="2368296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669280" y="4096512"/>
            <a:ext cx="5669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API 526 — orificios D–T y ejemplo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669280" y="4526280"/>
            <a:ext cx="566928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Áreas 0,110 (D) a 26,00 in² (T). Se selecciona el menor orificio cuya área ≥ requerida; por encima de T → E_OVER T. Ejemplo: agua 300 gpm → orificio J (1,287 in²), Kv = 1, margen 20,5 %.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7 · APM Y RBI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Gestión de activos: riesgo RBI y fiabilidad ISO 14224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10/19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349240" cy="356616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8463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430"/>
                </a:solidFill>
                <a:latin typeface="Cambria"/>
              </a:rPr>
              <a:t>Riesgo = POF × COF (escala 1–5)</a:t>
            </a:r>
          </a:p>
        </p:txBody>
      </p:sp>
      <p:sp>
        <p:nvSpPr>
          <p:cNvPr id="7" name="Rectangle 6"/>
          <p:cNvSpPr/>
          <p:nvPr/>
        </p:nvSpPr>
        <p:spPr>
          <a:xfrm>
            <a:off x="777240" y="2029968"/>
            <a:ext cx="1371600" cy="566928"/>
          </a:xfrm>
          <a:prstGeom prst="rect">
            <a:avLst/>
          </a:prstGeom>
          <a:solidFill>
            <a:srgbClr val="1E7A34"/>
          </a:solidFill>
          <a:ln w="9525">
            <a:solidFill>
              <a:srgbClr val="1E7A3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886968" y="208483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E8EDF2"/>
                </a:solidFill>
                <a:latin typeface="Cambria"/>
              </a:rPr>
              <a:t>Bajo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286000" y="208483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score ≤ 4   →   intervalo base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77240" y="2761488"/>
            <a:ext cx="1371600" cy="566928"/>
          </a:xfrm>
          <a:prstGeom prst="rect">
            <a:avLst/>
          </a:prstGeom>
          <a:solidFill>
            <a:srgbClr val="B45309"/>
          </a:solidFill>
          <a:ln w="9525">
            <a:solidFill>
              <a:srgbClr val="B4530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86968" y="281635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E8EDF2"/>
                </a:solidFill>
                <a:latin typeface="Cambria"/>
              </a:rPr>
              <a:t>Medio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286000" y="281635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score 5–9   →   0,75 × base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77240" y="3493008"/>
            <a:ext cx="1371600" cy="566928"/>
          </a:xfrm>
          <a:prstGeom prst="rect">
            <a:avLst/>
          </a:prstGeom>
          <a:solidFill>
            <a:srgbClr val="B4231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86968" y="354787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E8EDF2"/>
                </a:solidFill>
                <a:latin typeface="Cambria"/>
              </a:rPr>
              <a:t>Alto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286000" y="354787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score 10–15   →   0,5 × base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77240" y="4224528"/>
            <a:ext cx="1371600" cy="566928"/>
          </a:xfrm>
          <a:prstGeom prst="rect">
            <a:avLst/>
          </a:prstGeom>
          <a:solidFill>
            <a:srgbClr val="B42318"/>
          </a:solidFill>
          <a:ln w="9525">
            <a:solidFill>
              <a:srgbClr val="B4231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86968" y="4279392"/>
            <a:ext cx="1188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400"/>
              </a:spcAft>
            </a:pPr>
            <a:r>
              <a:rPr sz="1000" b="1">
                <a:solidFill>
                  <a:srgbClr val="E8EDF2"/>
                </a:solidFill>
                <a:latin typeface="Cambria"/>
              </a:rPr>
              <a:t>Muy alto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286000" y="4279392"/>
            <a:ext cx="27432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score ≥ 16   →   0,25 × base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400800" y="1389888"/>
            <a:ext cx="5166360" cy="356616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675120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Fiabilidad y disponibilidad (ISO 14224)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75120" y="2029968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Disponibilidad % = (ventana − tiempo no disponible) / ventana · 100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675120" y="2688336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MTBF = (ventana − tiempo no disponible) / nº fallos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675120" y="3346704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MTTR = tiempo no disponible / nº fallos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675120" y="4005072"/>
            <a:ext cx="466344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OEE = disponibilidad × rendimiento × calidad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02920" y="5138928"/>
            <a:ext cx="2651760" cy="11887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5CAD"/>
                </a:solidFill>
                <a:latin typeface="Cambria"/>
              </a:rPr>
              <a:t>95,0 %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57424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disponibilidad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319272" y="5138928"/>
            <a:ext cx="2651760" cy="11887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502152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5CAD"/>
                </a:solidFill>
                <a:latin typeface="Cambria"/>
              </a:rPr>
              <a:t>700 h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502152" y="57424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MTBF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135624" y="5138928"/>
            <a:ext cx="2651760" cy="11887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318504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5CAD"/>
                </a:solidFill>
                <a:latin typeface="Cambria"/>
              </a:rPr>
              <a:t>20 h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18504" y="57424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MTTR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951976" y="5138928"/>
            <a:ext cx="2651760" cy="118872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9134856" y="5230368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2200" b="1">
                <a:solidFill>
                  <a:srgbClr val="0B5CAD"/>
                </a:solidFill>
                <a:latin typeface="Cambria"/>
              </a:rPr>
              <a:t>83,79 %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134856" y="5742432"/>
            <a:ext cx="2286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OEE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8 · REGLAS DE INTEGRIDAD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Reglas R1–R14: condición y severidad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11/19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389888"/>
          <a:ext cx="10908792" cy="448056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5800"/>
                <a:gridCol w="2606040"/>
                <a:gridCol w="6016752"/>
                <a:gridCol w="160020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DF2"/>
                          </a:solidFill>
                          <a:latin typeface="Cambria"/>
                        </a:rPr>
                        <a:t>ID</a:t>
                      </a:r>
                    </a:p>
                  </a:txBody>
                  <a:tcPr marL="73152" marR="54864" marT="18288" marB="18288">
                    <a:solidFill>
                      <a:srgbClr val="11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DF2"/>
                          </a:solidFill>
                          <a:latin typeface="Cambria"/>
                        </a:rPr>
                        <a:t>Nombre</a:t>
                      </a:r>
                    </a:p>
                  </a:txBody>
                  <a:tcPr marL="73152" marR="54864" marT="18288" marB="18288">
                    <a:solidFill>
                      <a:srgbClr val="11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DF2"/>
                          </a:solidFill>
                          <a:latin typeface="Cambria"/>
                        </a:rPr>
                        <a:t>Condición (evaluación pura)</a:t>
                      </a:r>
                    </a:p>
                  </a:txBody>
                  <a:tcPr marL="73152" marR="54864" marT="18288" marB="18288">
                    <a:solidFill>
                      <a:srgbClr val="11161C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1">
                          <a:solidFill>
                            <a:srgbClr val="E8EDF2"/>
                          </a:solidFill>
                          <a:latin typeface="Cambria"/>
                        </a:rPr>
                        <a:t>Severidad</a:t>
                      </a:r>
                    </a:p>
                  </a:txBody>
                  <a:tcPr marL="73152" marR="54864" marT="18288" marB="18288">
                    <a:solidFill>
                      <a:srgbClr val="11161C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Tasa crítica de corrosión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crMpy ≥ 10 mpy en las últimas 24 h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54864" marT="9144" marB="9144">
                    <a:solidFill>
                      <a:srgbClr val="B4231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R2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Aceleración de tendencia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avg7d ≥ 2 × avg30d (≥ 5 lecturas)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R3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Eficiencia de inhibidor baja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Par de cupones con EI &lt; 70 %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R4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Residual de inhibidor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Fuera de banda 80–150 % del objetivo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warning/info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R5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Anomalía de sensor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|z| &gt; 3 o ≥ 10 lecturas idénticas (ER/LPR/H₂)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R6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Cupón vencido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endDate + 90 d superado (&gt; 180 d: crítico)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warning/critical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R7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Desviación modelo DWM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Ratio medida/modelo &gt; 2 (crítico) o &lt; 0,3 (info)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critical/info</a:t>
                      </a:r>
                    </a:p>
                  </a:txBody>
                  <a:tcPr marL="73152" marR="54864" marT="9144" marB="9144">
                    <a:solidFill>
                      <a:srgbClr val="B4231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R8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Servicio ácido (H₂S)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pH₂S alto → crítico; moderado → advertencia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critical/warning</a:t>
                      </a:r>
                    </a:p>
                  </a:txBody>
                  <a:tcPr marL="73152" marR="54864" marT="9144" marB="9144">
                    <a:solidFill>
                      <a:srgbClr val="B42318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R9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Inspección RBI vencida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Próxima inspección superada (&gt; 90 d: crítico)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warning/critical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R10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Degradación MTBF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MTBF últimos 90 d &lt; 50 % del periodo previo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R11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Disponibilidad baja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Disponibilidad &lt; 90 % (u override)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R12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Repetición de fallos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≥ 3 eventos de fallo en 90 d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R13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Prueba de PSV vencida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nextTestDate superada (&gt; 30 d: crítico)</a:t>
                      </a:r>
                    </a:p>
                  </a:txBody>
                  <a:tcPr marL="73152" marR="54864" marT="9144" marB="9144">
                    <a:solidFill>
                      <a:srgbClr val="E9EDF1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warning/critical</a:t>
                      </a:r>
                    </a:p>
                  </a:txBody>
                  <a:tcPr marL="73152" marR="54864" marT="9144" marB="9144">
                    <a:solidFill>
                      <a:srgbClr val="B45309"/>
                    </a:solidFill>
                  </a:tcPr>
                </a:tc>
              </a:tr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>
                          <a:solidFill>
                            <a:srgbClr val="0B5CAD"/>
                          </a:solidFill>
                          <a:latin typeface="Cambria"/>
                        </a:rPr>
                        <a:t>R14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Margen de capacidad negativo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00">
                          <a:solidFill>
                            <a:srgbClr val="1A2430"/>
                          </a:solidFill>
                          <a:latin typeface="Calibri"/>
                        </a:rPr>
                        <a:t>Margen PSV &lt; 0 (capacidad instalada insuficiente)</a:t>
                      </a:r>
                    </a:p>
                  </a:txBody>
                  <a:tcPr marL="73152" marR="54864" marT="9144" marB="9144">
                    <a:solidFill>
                      <a:srgbClr val="F4F6F8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900" b="1">
                          <a:solidFill>
                            <a:srgbClr val="E8EDF2"/>
                          </a:solidFill>
                          <a:latin typeface="Calibri"/>
                        </a:rPr>
                        <a:t>critical</a:t>
                      </a:r>
                    </a:p>
                  </a:txBody>
                  <a:tcPr marL="73152" marR="54864" marT="9144" marB="9144">
                    <a:solidFill>
                      <a:srgbClr val="B42318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6053328"/>
            <a:ext cx="10908792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000" b="0">
                <a:solidFill>
                  <a:srgbClr val="5A6B7C"/>
                </a:solidFill>
                <a:latin typeface="Calibri"/>
              </a:rPr>
              <a:t>Deduplicación por fingerprint (R#:tienda:entidad); ciclo abierto → reconocido → resuelto; reapertura automática si la condición reaparece.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9 · ESTÁNDARES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Normas aplicadas por región: EE. UU., Reino Unido, Brasil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12/19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" y="16276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EE. UU. / internacional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084831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API 520, API 526, API 580 / 581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ASME B31.4, ASME B31.8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ASTM G4 / G1 / G15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NACE SP0775, MR0175 / ISO 15156, SP0169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NFPA 20 / 25 / 11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ISO 55000, ISO 14224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ISA-101, API RP 1165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389888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4325112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53712" y="16276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Reino Unido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53712" y="2084831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BS 5306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BS EN 12845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EEMUA 191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ISO 13709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API STD 610 / 682 / 674 / 616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47304" y="1389888"/>
            <a:ext cx="3611880" cy="39319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8147304" y="1389888"/>
            <a:ext cx="3611880" cy="8229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75904" y="1627632"/>
            <a:ext cx="31546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Brasil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75904" y="2084831"/>
            <a:ext cx="315468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NR-23, NR-26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ABNT NBR 13714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ABNT NBR 17240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ISO 8528</a:t>
            </a:r>
          </a:p>
          <a:p>
            <a:pPr algn="l">
              <a:lnSpc>
                <a:spcPct val="105000"/>
              </a:lnSpc>
              <a:spcAft>
                <a:spcPts val="5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• IEEE 446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504688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Catálogo de la app: 33 normas. </a:t>
            </a:r>
            <a:r>
              <a:rPr sz="1050" b="0">
                <a:solidFill>
                  <a:srgbClr val="1A2430"/>
                </a:solidFill>
                <a:latin typeface="Calibri"/>
              </a:rPr>
              <a:t>Las ediciones deben verificarse contra la vigente antes de usarse en diseño u operación; los datos del fabricante del equipo prevalecen sobre los valores por defecto de la aplicación.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10 · DISEÑO VISUAL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ISA-101, EEMUA 191, NR-26 — emblema, tokens, claro/oscuro, 7 idiomas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13/19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486400" cy="448056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430"/>
                </a:solidFill>
                <a:latin typeface="Cambria"/>
              </a:rPr>
              <a:t>Referentes de diseño aplicados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ISA-101: HMI de alto rendimiento, sin decoración, color solo para lo anormal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43200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EEMUA 191: jerarquía y priorización de alarmas (rojo → ámbar)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456432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NR-26: colores de seguridad; rojo = protección contra incendios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169664"/>
            <a:ext cx="5029200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Forma redundante por severidad: círculo / cuadrado / triángulo / X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2148840" cy="448056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72768"/>
            <a:ext cx="17373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00" b="1">
                <a:solidFill>
                  <a:srgbClr val="0B5CAD"/>
                </a:solidFill>
                <a:latin typeface="Cambria"/>
              </a:rPr>
              <a:t>Tokens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29400" y="1965960"/>
            <a:ext cx="292608" cy="292608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04304" y="1938528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Primario #0B5CAD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629400" y="2679191"/>
            <a:ext cx="292608" cy="292608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04304" y="2651760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Oscuro #11161C</a:t>
            </a:r>
          </a:p>
        </p:txBody>
      </p:sp>
      <p:sp>
        <p:nvSpPr>
          <p:cNvPr id="17" name="Rectangle 16"/>
          <p:cNvSpPr/>
          <p:nvPr/>
        </p:nvSpPr>
        <p:spPr>
          <a:xfrm>
            <a:off x="6629400" y="3392424"/>
            <a:ext cx="292608" cy="292608"/>
          </a:xfrm>
          <a:prstGeom prst="rect">
            <a:avLst/>
          </a:prstGeom>
          <a:solidFill>
            <a:srgbClr val="E9ED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004304" y="3364992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Hielo #E9EDF1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629400" y="4105656"/>
            <a:ext cx="292608" cy="292608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7004304" y="4078224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Ámbar #B45309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629400" y="4818888"/>
            <a:ext cx="292608" cy="292608"/>
          </a:xfrm>
          <a:prstGeom prst="rect">
            <a:avLst/>
          </a:prstGeom>
          <a:solidFill>
            <a:srgbClr val="1A24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04304" y="4791455"/>
            <a:ext cx="146304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1A2430"/>
                </a:solidFill>
                <a:latin typeface="Calibri"/>
              </a:rPr>
              <a:t>Texto #1A2430</a:t>
            </a:r>
          </a:p>
        </p:txBody>
      </p:sp>
      <p:sp>
        <p:nvSpPr>
          <p:cNvPr id="23" name="Rectangle 22"/>
          <p:cNvSpPr/>
          <p:nvPr/>
        </p:nvSpPr>
        <p:spPr>
          <a:xfrm>
            <a:off x="8869680" y="1389888"/>
            <a:ext cx="2724912" cy="448056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9098280" y="1572768"/>
            <a:ext cx="22860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1">
                <a:solidFill>
                  <a:srgbClr val="1A2430"/>
                </a:solidFill>
                <a:latin typeface="Cambria"/>
              </a:rPr>
              <a:t>7 idiomas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098280" y="2029968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es · en · pt · fr · ru · zh · ar (RTL)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98280" y="3611880"/>
            <a:ext cx="228600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Aft>
                <a:spcPts val="6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Claro / oscuro con tokens CSS y localStorage</a:t>
            </a:r>
          </a:p>
          <a:p>
            <a:pPr algn="l">
              <a:lnSpc>
                <a:spcPct val="110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Emblema “Escudo de Integridad”: hexágono, manómetro de 270 ° y ducto con bridas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502920" y="4956048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8" name="Picture 27" descr="p0-locale-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76236" y="4956048"/>
            <a:ext cx="2248326" cy="1481328"/>
          </a:xfrm>
          <a:prstGeom prst="rect">
            <a:avLst/>
          </a:prstGeom>
        </p:spPr>
      </p:pic>
      <p:sp>
        <p:nvSpPr>
          <p:cNvPr id="29" name="TextBox 28"/>
          <p:cNvSpPr txBox="1"/>
          <p:nvPr/>
        </p:nvSpPr>
        <p:spPr>
          <a:xfrm>
            <a:off x="502920" y="64922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p0-locale-es.png — interfaz en español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108192" y="4956048"/>
            <a:ext cx="5394960" cy="1481328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1" name="Picture 30" descr="v2-01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34389" y="4956048"/>
            <a:ext cx="2342565" cy="1481328"/>
          </a:xfrm>
          <a:prstGeom prst="rect">
            <a:avLst/>
          </a:prstGeom>
        </p:spPr>
      </p:pic>
      <p:sp>
        <p:nvSpPr>
          <p:cNvPr id="32" name="TextBox 31"/>
          <p:cNvSpPr txBox="1"/>
          <p:nvPr/>
        </p:nvSpPr>
        <p:spPr>
          <a:xfrm>
            <a:off x="6108192" y="6492240"/>
            <a:ext cx="53949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v2-01-dashboard.png — panel, modo claro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11 · CAPTURAS DE PRODUCTO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Interfaz de usuario — capturas reales de docs/evidence/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14/19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440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og-trend-char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71711" y="1389888"/>
            <a:ext cx="3303097" cy="217627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36393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Gráfica de tendencia de tasas de corrosión</a:t>
            </a:r>
          </a:p>
        </p:txBody>
      </p:sp>
      <p:sp>
        <p:nvSpPr>
          <p:cNvPr id="8" name="Rectangle 7"/>
          <p:cNvSpPr/>
          <p:nvPr/>
        </p:nvSpPr>
        <p:spPr>
          <a:xfrm>
            <a:off x="6190488" y="1389888"/>
            <a:ext cx="5440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og-gauge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59279" y="1389888"/>
            <a:ext cx="3303097" cy="2176272"/>
          </a:xfrm>
          <a:prstGeom prst="rect">
            <a:avLst/>
          </a:prstGeom>
        </p:spPr>
      </p:pic>
      <p:sp>
        <p:nvSpPr>
          <p:cNvPr id="10" name="TextBox 9"/>
          <p:cNvSpPr txBox="1"/>
          <p:nvPr/>
        </p:nvSpPr>
        <p:spPr>
          <a:xfrm>
            <a:off x="6327648" y="363931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Panel de indicadores (gauges) de activos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02920" y="4041648"/>
            <a:ext cx="5440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2" name="Picture 11" descr="og-apm-equipmen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571711" y="4041648"/>
            <a:ext cx="3303097" cy="2176272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40080" y="629107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Equipos APM y matriz de riesgo RBI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190488" y="4041648"/>
            <a:ext cx="5440680" cy="2560320"/>
          </a:xfrm>
          <a:prstGeom prst="rect">
            <a:avLst/>
          </a:prstGeom>
          <a:solidFill>
            <a:srgbClr val="FFFFFF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5" name="Picture 14" descr="v2-04-map-ligh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90054" y="4041648"/>
            <a:ext cx="3441546" cy="2176272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6327648" y="6291072"/>
            <a:ext cx="51663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Mapa de ductos y activos de línea, modo claro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12 · CALIDAD Y PRUEBAS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281 tests, e2e 12 + 10, axe 0, volumen 10 k, cobertura ≥ 80 %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15/19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04088" y="1769364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52728" y="147218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281 / 281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52728" y="190195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Tests automatizados, toda la suite verde (node --test)</a:t>
            </a:r>
          </a:p>
        </p:txBody>
      </p:sp>
      <p:sp>
        <p:nvSpPr>
          <p:cNvPr id="9" name="Rectangle 8"/>
          <p:cNvSpPr/>
          <p:nvPr/>
        </p:nvSpPr>
        <p:spPr>
          <a:xfrm>
            <a:off x="4325112" y="1389888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4526280" y="1769364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74920" y="1472184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≥ 80 %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74920" y="1901952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Cobertura de líneas en src/calc y src/rules (gate de calidad)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2743200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704088" y="3122676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252728" y="282549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e2e 12 + 10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52728" y="3255264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Pasos críticos guiados y automatizados, todos PASS (P0)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325112" y="2743200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4526280" y="3122676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74920" y="2825496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axe: 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74920" y="3255264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Accesibilidad: 0 críticos / graves / moderados / menores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4096512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704088" y="4475988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252728" y="41788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10 000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252728" y="4608576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Filas en pruebas de volumen: parser 58 ms, import UI 568 ms, dashboard 104 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4325112" y="4096512"/>
            <a:ext cx="3611880" cy="1170432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4526280" y="4475988"/>
            <a:ext cx="411480" cy="41148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74920" y="4178808"/>
            <a:ext cx="26060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900" b="1">
                <a:solidFill>
                  <a:srgbClr val="0B5CAD"/>
                </a:solidFill>
                <a:latin typeface="Cambria"/>
              </a:rPr>
              <a:t>file:// + PWA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74920" y="4608576"/>
            <a:ext cx="260604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Modo archivo y PWA offline verificados (e2e-core 10/10)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5504688"/>
            <a:ext cx="10908792" cy="8686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77240" y="5614416"/>
            <a:ext cx="1037844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Estado: </a:t>
            </a:r>
            <a:r>
              <a:rPr sz="1050" b="0">
                <a:solidFill>
                  <a:srgbClr val="1A2430"/>
                </a:solidFill>
                <a:latin typeface="Calibri"/>
              </a:rPr>
              <a:t>0 bugs de aplicación abiertos tras la campaña P0. UAT pendiente: 6 guiones de campo (docs/GUIA-DE-USO.md). Regresión: 281 tests en cada entrega.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13 · KIT DE DATOS DE CAMPO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41 filas CSV validadas + precarga de 6 sistemas de ducto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16/19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44068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1572768"/>
            <a:ext cx="49377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1A2430"/>
                </a:solidFill>
                <a:latin typeface="Cambria"/>
              </a:rPr>
              <a:t>CSV de campo — 41 filas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29968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Resultado: 35 válidas · 4 errores · 2 duplicadas · 3 puntos nuevos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2779776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Delimitadores: coma, punto y coma y tab; comillas dobles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529584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12 campos canónicos con alias (mpCode, date, crMpy, wiMg, wfMg, areaIn2, days, inhibitorResidualPpm, tempC, bswPct, category, note)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4279392"/>
            <a:ext cx="493776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Rangos: crMpy [0, 1000], tempC [−60, 200], bsw [0, 100], days &gt; 0, área &gt; 0, wf ≤ wi, fecha ≤ hoy + 1 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400800" y="1389888"/>
            <a:ext cx="5166360" cy="3977639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75120" y="1572768"/>
            <a:ext cx="46634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50" b="1">
                <a:solidFill>
                  <a:srgbClr val="1A2430"/>
                </a:solidFill>
                <a:latin typeface="Cambria"/>
              </a:rPr>
              <a:t>Precarga de semilla (determinista, mulberry32(42))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675120" y="2029968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6 sistemas de ducto cargados de fábrica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675120" y="2779776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8 puntos de monitoreo (MP-CORR-001 … MP-CORR-008)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3529584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Incluye disparadores de reglas: pico 12,4 mpy (R1), aceleración de tendencia (R2), sensor atascado (R5), cupón vencido (R6)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675120" y="4279392"/>
            <a:ext cx="4663440" cy="7132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Aft>
                <a:spcPts val="400"/>
              </a:spcAft>
            </a:pPr>
            <a:r>
              <a:rPr sz="1050" b="0">
                <a:solidFill>
                  <a:srgbClr val="1A2430"/>
                </a:solidFill>
                <a:latin typeface="Calibri"/>
              </a:rPr>
              <a:t>• Fuente: datos-prueba/INFORME-CARGA-DATOS.md (anclado en fuentes públicas)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14 · DESPLIEGUE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Paquete portable: carpeta de escritorio, ZIP, SHA256, EXE, PWA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17/19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1389888"/>
            <a:ext cx="544068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389888"/>
            <a:ext cx="54406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704088" y="1591056"/>
            <a:ext cx="365760" cy="36576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16152" y="155448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430"/>
                </a:solidFill>
                <a:latin typeface="Cambria"/>
              </a:rPr>
              <a:t>Carpeta de escritorio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216152" y="1938528"/>
            <a:ext cx="45262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index.html + assets/ + src/. Doble clic (file://) o servidor local (localhost:8419 con START-HERE.bat, serve.ps1 o serve.py).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153912" y="1389888"/>
            <a:ext cx="544068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6153912" y="1389888"/>
            <a:ext cx="54406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355080" y="1591056"/>
            <a:ext cx="365760" cy="36576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67144" y="1554480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430"/>
                </a:solidFill>
                <a:latin typeface="Cambria"/>
              </a:rPr>
              <a:t>ZIP + SHA256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67144" y="1938528"/>
            <a:ext cx="45262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Paquete de distribución verificable; huella criptográfica SHA256 para integridad en la entrega a campo.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694176"/>
            <a:ext cx="544068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502920" y="3694176"/>
            <a:ext cx="54406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704088" y="3895344"/>
            <a:ext cx="365760" cy="36576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216152" y="3858768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430"/>
                </a:solidFill>
                <a:latin typeface="Cambria"/>
              </a:rPr>
              <a:t>EXE portable (Electron)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216152" y="4242816"/>
            <a:ext cx="45262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electron-builder, target portable; servidor HTTP interno en 127.0.0.1 puerto efímero; service worker funcional; 71 MB sin firma.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6153912" y="3694176"/>
            <a:ext cx="5440680" cy="2103120"/>
          </a:xfrm>
          <a:prstGeom prst="rect">
            <a:avLst/>
          </a:prstGeom>
          <a:solidFill>
            <a:srgbClr val="F4F6F8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153912" y="3694176"/>
            <a:ext cx="5440680" cy="82296"/>
          </a:xfrm>
          <a:prstGeom prst="rect">
            <a:avLst/>
          </a:prstGeom>
          <a:solidFill>
            <a:srgbClr val="B4530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6355080" y="3895344"/>
            <a:ext cx="365760" cy="36576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300" b="1">
                <a:solidFill>
                  <a:srgbClr val="E8EDF2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867144" y="3858768"/>
            <a:ext cx="45262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250" b="1">
                <a:solidFill>
                  <a:srgbClr val="1A2430"/>
                </a:solidFill>
                <a:latin typeface="Cambria"/>
              </a:rPr>
              <a:t>PWA instalable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867144" y="4242816"/>
            <a:ext cx="4526280" cy="14173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1000" b="0">
                <a:solidFill>
                  <a:srgbClr val="1A2430"/>
                </a:solidFill>
                <a:latin typeface="Calibri"/>
              </a:rPr>
              <a:t>manifest.webmanifest, SW iw-vN y apple-touch-icon; instalación en Edge, Chrome, Android e iOS; actualización por CACHE_NAME iw-vN + toast.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504688"/>
            <a:ext cx="10908792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400"/>
              </a:spcAft>
            </a:pPr>
            <a:r>
              <a:rPr sz="1050" b="1">
                <a:solidFill>
                  <a:srgbClr val="0B5CAD"/>
                </a:solidFill>
                <a:latin typeface="Calibri"/>
              </a:rPr>
              <a:t>Sin servidor requerido. </a:t>
            </a:r>
            <a:r>
              <a:rPr sz="1050" b="0">
                <a:solidFill>
                  <a:srgbClr val="1A2430"/>
                </a:solidFill>
                <a:latin typeface="Calibri"/>
              </a:rPr>
              <a:t>Actualizaciones: incrementar CACHE_NAME en sw.js (node tools/bump-cache.cjs); los clientes reciben el aviso “Actualización disponible → Recargar” al recargar.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56032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00" b="1">
                <a:solidFill>
                  <a:srgbClr val="B45309"/>
                </a:solidFill>
                <a:latin typeface="Cambria"/>
              </a:rPr>
              <a:t>15 ·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512064"/>
            <a:ext cx="11185855" cy="777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200" b="1">
                <a:solidFill>
                  <a:srgbClr val="1A2430"/>
                </a:solidFill>
                <a:latin typeface="Cambria"/>
              </a:rPr>
              <a:t>Hoja de ruta — de la demostración al rollout en equipo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6528816"/>
            <a:ext cx="11185855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900" b="0">
                <a:solidFill>
                  <a:srgbClr val="5A6B7C"/>
                </a:solidFill>
                <a:latin typeface="Calibri"/>
              </a:rPr>
              <a:t>IntegrityWatch Field v1.0.0  ·  Presentación Técnica  ·  </a:t>
            </a:r>
            <a:r>
              <a:rPr sz="900" b="1">
                <a:solidFill>
                  <a:srgbClr val="5A6B7C"/>
                </a:solidFill>
                <a:latin typeface="Calibri"/>
              </a:rPr>
              <a:t>18/19</a:t>
            </a:r>
          </a:p>
        </p:txBody>
      </p:sp>
      <p:sp>
        <p:nvSpPr>
          <p:cNvPr id="5" name="Rectangle 4"/>
          <p:cNvSpPr/>
          <p:nvPr/>
        </p:nvSpPr>
        <p:spPr>
          <a:xfrm>
            <a:off x="1051560" y="3310128"/>
            <a:ext cx="10378440" cy="27432"/>
          </a:xfrm>
          <a:prstGeom prst="rect">
            <a:avLst/>
          </a:prstGeom>
          <a:solidFill>
            <a:srgbClr val="C9D3D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188720" y="305409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258568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A2430"/>
                </a:solidFill>
                <a:latin typeface="Cambria"/>
              </a:rPr>
              <a:t>Fase 1 — 2026 Q4</a:t>
            </a:r>
          </a:p>
        </p:txBody>
      </p:sp>
      <p:sp>
        <p:nvSpPr>
          <p:cNvPr id="8" name="Rectangle 7"/>
          <p:cNvSpPr/>
          <p:nvPr/>
        </p:nvSpPr>
        <p:spPr>
          <a:xfrm>
            <a:off x="411480" y="3419856"/>
            <a:ext cx="2331720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" y="356616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Demo funcional: suite 281/281 verde y campaña P0 completada (offline, PWA, file://, volumen, axe).</a:t>
            </a:r>
          </a:p>
        </p:txBody>
      </p:sp>
      <p:sp>
        <p:nvSpPr>
          <p:cNvPr id="10" name="Oval 9"/>
          <p:cNvSpPr/>
          <p:nvPr/>
        </p:nvSpPr>
        <p:spPr>
          <a:xfrm>
            <a:off x="3401568" y="305409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52927" y="2258568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A2430"/>
                </a:solidFill>
                <a:latin typeface="Cambria"/>
              </a:rPr>
              <a:t>Fase 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4327" y="3419856"/>
            <a:ext cx="2331720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715768" y="356616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E2E automatizado, accesibilidad axe y 7 idiomas verificados en navegadores reales.</a:t>
            </a:r>
          </a:p>
        </p:txBody>
      </p:sp>
      <p:sp>
        <p:nvSpPr>
          <p:cNvPr id="14" name="Oval 13"/>
          <p:cNvSpPr/>
          <p:nvPr/>
        </p:nvSpPr>
        <p:spPr>
          <a:xfrm>
            <a:off x="5614416" y="305409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65776" y="2258568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A2430"/>
                </a:solidFill>
                <a:latin typeface="Cambria"/>
              </a:rPr>
              <a:t>Fase 3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837176" y="3419856"/>
            <a:ext cx="2331720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928616" y="356616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EXE portable + backup/restauración E2E + flujo de actualización del service worker.</a:t>
            </a:r>
          </a:p>
        </p:txBody>
      </p:sp>
      <p:sp>
        <p:nvSpPr>
          <p:cNvPr id="18" name="Oval 17"/>
          <p:cNvSpPr/>
          <p:nvPr/>
        </p:nvSpPr>
        <p:spPr>
          <a:xfrm>
            <a:off x="7827264" y="305409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278624" y="2258568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A2430"/>
                </a:solidFill>
                <a:latin typeface="Cambria"/>
              </a:rPr>
              <a:t>Fase 4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0024" y="3419856"/>
            <a:ext cx="2331720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41464" y="356616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Rollout a equipo: UAT con 6 guiones de campo y formación de operadores.</a:t>
            </a:r>
          </a:p>
        </p:txBody>
      </p:sp>
      <p:sp>
        <p:nvSpPr>
          <p:cNvPr id="22" name="Oval 21"/>
          <p:cNvSpPr/>
          <p:nvPr/>
        </p:nvSpPr>
        <p:spPr>
          <a:xfrm>
            <a:off x="10040112" y="3054096"/>
            <a:ext cx="457200" cy="457200"/>
          </a:xfrm>
          <a:prstGeom prst="ellipse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/>
          <a:lstStyle/>
          <a:p>
            <a:pPr algn="ctr"/>
            <a:r>
              <a:rPr sz="1400" b="1">
                <a:solidFill>
                  <a:srgbClr val="E8EDF2"/>
                </a:solidFill>
                <a:latin typeface="Cambria"/>
              </a:rPr>
              <a:t>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491472" y="2258568"/>
            <a:ext cx="2011680" cy="685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5000"/>
              </a:lnSpc>
              <a:spcAft>
                <a:spcPts val="400"/>
              </a:spcAft>
            </a:pPr>
            <a:r>
              <a:rPr sz="1100" b="1">
                <a:solidFill>
                  <a:srgbClr val="1A2430"/>
                </a:solidFill>
                <a:latin typeface="Cambria"/>
              </a:rPr>
              <a:t>Fase 5 — continua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9262872" y="3419856"/>
            <a:ext cx="2331720" cy="1783080"/>
          </a:xfrm>
          <a:prstGeom prst="rect">
            <a:avLst/>
          </a:prstGeom>
          <a:solidFill>
            <a:srgbClr val="E9EDF1"/>
          </a:solidFill>
          <a:ln w="9525">
            <a:solidFill>
              <a:srgbClr val="C9D3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354312" y="3566160"/>
            <a:ext cx="214884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Aft>
                <a:spcPts val="400"/>
              </a:spcAft>
            </a:pPr>
            <a:r>
              <a:rPr sz="950" b="0">
                <a:solidFill>
                  <a:srgbClr val="1A2430"/>
                </a:solidFill>
                <a:latin typeface="Calibri"/>
              </a:rPr>
              <a:t>Regresión de los 281 tests en cada entrega; cobertura ≥ 80 % en motores y reglas.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6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0B5CA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685800"/>
            <a:ext cx="11185855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3400" b="1">
                <a:solidFill>
                  <a:srgbClr val="E8EDF2"/>
                </a:solidFill>
                <a:latin typeface="Cambria"/>
              </a:rPr>
              <a:t>Cierre — descargo de ingeniería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11185855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300" b="0">
                <a:solidFill>
                  <a:srgbClr val="B9C4D0"/>
                </a:solidFill>
                <a:latin typeface="Calibri"/>
              </a:rPr>
              <a:t>IntegrityWatch Field v1.0.0  ·  Presentación Técnica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502920" y="2331720"/>
            <a:ext cx="10908792" cy="3154680"/>
          </a:xfrm>
          <a:prstGeom prst="rect">
            <a:avLst/>
          </a:prstGeom>
          <a:solidFill>
            <a:srgbClr val="1A2430"/>
          </a:solidFill>
          <a:ln w="12700">
            <a:solidFill>
              <a:srgbClr val="33404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256032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400" b="1">
                <a:solidFill>
                  <a:srgbClr val="0B5CAD"/>
                </a:solidFill>
                <a:latin typeface="Cambria"/>
              </a:rPr>
              <a:t>Descargo de ingeniería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3017520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E8EDF2"/>
                </a:solidFill>
                <a:latin typeface="Calibri"/>
              </a:rPr>
              <a:t>• Herramienta de apoyo a la decisión: no sustituye el criterio de un ingeniero cualificado.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493008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E8EDF2"/>
                </a:solidFill>
                <a:latin typeface="Calibri"/>
              </a:rPr>
              <a:t>• Verificar resultados contra las ediciones vigentes de las normas citadas.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968496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E8EDF2"/>
                </a:solidFill>
                <a:latin typeface="Calibri"/>
              </a:rPr>
              <a:t>• Los datos del fabricante del equipo prevalecen sobre los valores por defecto de la app.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443983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E8EDF2"/>
                </a:solidFill>
                <a:latin typeface="Calibri"/>
              </a:rPr>
              <a:t>• Algunas constantes (Kb/Kw de API 520) son digitizaciones aproximadas de las figuras de la norma.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4919472"/>
            <a:ext cx="1033272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Aft>
                <a:spcPts val="400"/>
              </a:spcAft>
            </a:pPr>
            <a:r>
              <a:rPr sz="1150" b="0">
                <a:solidFill>
                  <a:srgbClr val="E8EDF2"/>
                </a:solidFill>
                <a:latin typeface="Calibri"/>
              </a:rPr>
              <a:t>• Ningún valor generado por la app constituye certificación ni recomendación de diseño vinculante.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5806440"/>
            <a:ext cx="11185855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300"/>
              </a:spcAft>
            </a:pPr>
            <a:r>
              <a:rPr sz="1500" b="1">
                <a:solidFill>
                  <a:srgbClr val="E8EDF2"/>
                </a:solidFill>
                <a:latin typeface="Cambria"/>
              </a:rPr>
              <a:t>Gracias por su atención.</a:t>
            </a:r>
          </a:p>
          <a:p>
            <a:pPr algn="l">
              <a:lnSpc>
                <a:spcPct val="100000"/>
              </a:lnSpc>
              <a:spcAft>
                <a:spcPts val="400"/>
              </a:spcAft>
            </a:pPr>
            <a:r>
              <a:rPr sz="1150" b="0">
                <a:solidFill>
                  <a:srgbClr val="B9C4D0"/>
                </a:solidFill>
                <a:latin typeface="Calibri"/>
              </a:rPr>
              <a:t>Preguntas y comentarios al equipo de IntegrityWatch Field.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IntegrityWatch Field — Presentación Técnica</dc:title>
  <dc:subject/>
  <dc:creator>IntegrityWatch Field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